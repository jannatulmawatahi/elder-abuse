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Sentiment &amp; Emotion Analysis of Social-Media</a:t>
            </a:r>
            <a:br/>
            <a:r>
              <a:t>Comments on Elder Abuse</a:t>
            </a:r>
          </a:p>
          <a:p>
            <a:pPr>
              <a:defRPr sz="1800">
                <a:solidFill>
                  <a:srgbClr val="E9C46A"/>
                </a:solidFill>
              </a:defRPr>
            </a:pPr>
            <a:r>
              <a:t>Bangla · Banglish · English  —  a deep-analysis NLP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548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End-to-end pipeline complete — Phase 0 → 6 (data · models · deep analysis)</a:t>
            </a:r>
          </a:p>
          <a:p>
            <a:pPr>
              <a:defRPr sz="1300" b="0">
                <a:solidFill>
                  <a:srgbClr val="C9D2DE"/>
                </a:solidFill>
              </a:defRPr>
            </a:pPr>
            <a:r>
              <a:t>Lamia Islam Mim  ·  CSE 499A (Capstone), North South University</a:t>
            </a:r>
          </a:p>
          <a:p>
            <a:pPr>
              <a:defRPr sz="1300" b="0">
                <a:solidFill>
                  <a:srgbClr val="C9D2DE"/>
                </a:solidFill>
              </a:defRPr>
            </a:pPr>
            <a:r>
              <a:t>Component added per supervisor brief: “the deeper the analysis, the better”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Objective &amp;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D3557"/>
                </a:solidFill>
              </a:defRPr>
            </a:pPr>
            <a:r>
              <a:t>• Goal: a publishable NLP system that classifies public comments on elder-abuse news/videos by sentiment AND fine-grained emotion.</a:t>
            </a:r>
          </a:p>
          <a:p>
            <a:pPr>
              <a:spcAft>
                <a:spcPts val="900"/>
              </a:spcAft>
              <a:defRPr sz="1600" b="1">
                <a:solidFill>
                  <a:srgbClr val="1D3557"/>
                </a:solidFill>
              </a:defRPr>
            </a:pPr>
            <a:r>
              <a:t>• Why it matters:</a:t>
            </a:r>
          </a:p>
          <a:p>
            <a:pPr>
              <a:spcAft>
                <a:spcPts val="900"/>
              </a:spcAft>
              <a:defRPr sz="1400" b="0">
                <a:solidFill>
                  <a:srgbClr val="494F57"/>
                </a:solidFill>
              </a:defRPr>
            </a:pPr>
            <a:r>
              <a:t>    – Elder abuse is rising in Bangladesh; public reaction reveals social attitudes — condemnation, sympathy, and (critically) victim-blaming.</a:t>
            </a:r>
          </a:p>
          <a:p>
            <a:pPr>
              <a:spcAft>
                <a:spcPts val="900"/>
              </a:spcAft>
              <a:defRPr sz="1400" b="0">
                <a:solidFill>
                  <a:srgbClr val="494F57"/>
                </a:solidFill>
              </a:defRPr>
            </a:pPr>
            <a:r>
              <a:t>    – Most Bangla sentiment work is on product/movie reviews; emotion analysis on a real social-issue corpus is novel.</a:t>
            </a:r>
          </a:p>
          <a:p>
            <a:pPr>
              <a:spcAft>
                <a:spcPts val="900"/>
              </a:spcAft>
              <a:defRPr sz="1600" b="1">
                <a:solidFill>
                  <a:srgbClr val="1D3557"/>
                </a:solidFill>
              </a:defRPr>
            </a:pPr>
            <a:r>
              <a:t>• Two research outputs:</a:t>
            </a:r>
          </a:p>
          <a:p>
            <a:pPr>
              <a:spcAft>
                <a:spcPts val="900"/>
              </a:spcAft>
              <a:defRPr sz="1400" b="0">
                <a:solidFill>
                  <a:srgbClr val="494F57"/>
                </a:solidFill>
              </a:defRPr>
            </a:pPr>
            <a:r>
              <a:t>    – (1) A new annotated Bangla/Banglish elder-abuse emotion dataset (with a novel victim-blaming class).</a:t>
            </a:r>
          </a:p>
          <a:p>
            <a:pPr>
              <a:spcAft>
                <a:spcPts val="900"/>
              </a:spcAft>
              <a:defRPr sz="1400" b="0">
                <a:solidFill>
                  <a:srgbClr val="494F57"/>
                </a:solidFill>
              </a:defRPr>
            </a:pPr>
            <a:r>
              <a:t>    – (2) Benchmarked models + a deep analysis of how reactions vary by abuse type, platform, and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The Pipeline — Phase 0 → 6</a:t>
            </a:r>
          </a:p>
          <a:p>
            <a:pPr>
              <a:defRPr sz="1350">
                <a:solidFill>
                  <a:srgbClr val="494F57"/>
                </a:solidFill>
              </a:defRPr>
            </a:pPr>
            <a:r>
              <a:t>Every stage below is complete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7279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789"/>
                <a:gridCol w="7315200"/>
                <a:gridCol w="1482810"/>
              </a:tblGrid>
              <a:tr h="497840"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What was done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  Cleaning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2,454 → 2,301 comments, language-tagged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1  Annotation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2-level labels (polarity + emotion) via a written guideline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1.5  EDA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13 charts + 7 documented findings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2 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1609 / 345 / 345, stratified, test sha256-locked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3  Modelling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TF-IDF+SVM baseline + fine-tuned BanglaBERT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4 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held-out test set + McNemar significance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5  Deep analysis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language · embeddings · religion · explainability · errors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6  Paper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all tables + 21 figures assembled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The Dataset</a:t>
            </a:r>
          </a:p>
          <a:p>
            <a:pPr>
              <a:defRPr sz="1350">
                <a:solidFill>
                  <a:srgbClr val="494F57"/>
                </a:solidFill>
              </a:defRPr>
            </a:pPr>
            <a:r>
              <a:t>Scraped YouTube + Facebook comments on elder-abuse videos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651760" cy="1371600"/>
          </a:xfrm>
          <a:prstGeom prst="roundRect">
            <a:avLst/>
          </a:prstGeom>
          <a:solidFill>
            <a:srgbClr val="F1F3F6"/>
          </a:solidFill>
          <a:ln w="19050">
            <a:solidFill>
              <a:srgbClr val="494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494F57"/>
                </a:solidFill>
              </a:defRPr>
            </a:pPr>
            <a:r>
              <a:t>2,454</a:t>
            </a:r>
          </a:p>
          <a:p>
            <a:pPr algn="ctr">
              <a:defRPr sz="1200">
                <a:solidFill>
                  <a:srgbClr val="494F57"/>
                </a:solidFill>
              </a:defRPr>
            </a:pPr>
            <a:r>
              <a:t>raw scraped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417320"/>
            <a:ext cx="2651760" cy="1371600"/>
          </a:xfrm>
          <a:prstGeom prst="roundRect">
            <a:avLst/>
          </a:prstGeom>
          <a:solidFill>
            <a:srgbClr val="F1F3F6"/>
          </a:solidFill>
          <a:ln w="1905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D3557"/>
                </a:solidFill>
              </a:defRPr>
            </a:pPr>
            <a:r>
              <a:t>2,301</a:t>
            </a:r>
          </a:p>
          <a:p>
            <a:pPr algn="ctr">
              <a:defRPr sz="1200">
                <a:solidFill>
                  <a:srgbClr val="494F57"/>
                </a:solidFill>
              </a:defRPr>
            </a:pPr>
            <a:r>
              <a:t>after cleaning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2651760" cy="1371600"/>
          </a:xfrm>
          <a:prstGeom prst="roundRect">
            <a:avLst/>
          </a:prstGeom>
          <a:solidFill>
            <a:srgbClr val="F1F3F6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2A9D8F"/>
                </a:solidFill>
              </a:defRPr>
            </a:pPr>
            <a:r>
              <a:t>2,299</a:t>
            </a:r>
          </a:p>
          <a:p>
            <a:pPr algn="ctr">
              <a:defRPr sz="1200">
                <a:solidFill>
                  <a:srgbClr val="494F57"/>
                </a:solidFill>
              </a:defRPr>
            </a:pPr>
            <a:r>
              <a:t>modelling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D3557"/>
                </a:solidFill>
              </a:defRPr>
            </a:pPr>
            <a:r>
              <a:t>• Cleaning removed 153 junk items: 118 textless/emoji-only, 13 spam, 13 duplicates, 9 too-short.</a:t>
            </a:r>
          </a:p>
          <a:p>
            <a:pPr>
              <a:spcAft>
                <a:spcPts val="900"/>
              </a:spcAft>
              <a:defRPr sz="1600" b="0">
                <a:solidFill>
                  <a:srgbClr val="1D3557"/>
                </a:solidFill>
              </a:defRPr>
            </a:pPr>
            <a:r>
              <a:t>• Platforms: YouTube 1632 · Facebook 669.</a:t>
            </a:r>
          </a:p>
          <a:p>
            <a:pPr>
              <a:spcAft>
                <a:spcPts val="900"/>
              </a:spcAft>
              <a:defRPr sz="1600" b="0">
                <a:solidFill>
                  <a:srgbClr val="1D3557"/>
                </a:solidFill>
              </a:defRPr>
            </a:pPr>
            <a:r>
              <a:t>• Video topic (context only, NOT the comment label): Neglect · Abandonment · Physical · Verbal · Murder.</a:t>
            </a:r>
          </a:p>
          <a:p>
            <a:pPr>
              <a:spcAft>
                <a:spcPts val="900"/>
              </a:spcAft>
              <a:defRPr sz="1600" b="0">
                <a:solidFill>
                  <a:srgbClr val="1D3557"/>
                </a:solidFill>
              </a:defRPr>
            </a:pPr>
            <a:r>
              <a:t>• Handled up-front: scrape-time date (no temporal claims); abuse_type is video-level context; 84% of likes = 0; emoji &amp; punctuation kept (they carry emotion).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Language Composition</a:t>
            </a:r>
          </a:p>
          <a:p>
            <a:pPr>
              <a:defRPr sz="1350">
                <a:solidFill>
                  <a:srgbClr val="494F57"/>
                </a:solidFill>
              </a:defRPr>
            </a:pPr>
            <a:r>
              <a:t>Detected by script (Unicode ranges) at cleaning time</a:t>
            </a:r>
          </a:p>
        </p:txBody>
      </p:sp>
      <p:pic>
        <p:nvPicPr>
          <p:cNvPr id="4" name="Picture 3" descr="18_la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2784"/>
            <a:ext cx="6766560" cy="2481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828800"/>
            <a:ext cx="45720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D3557"/>
                </a:solidFill>
              </a:defRPr>
            </a:pPr>
            <a:r>
              <a:t>• Bangla 1,899 — pure Bangla script.</a:t>
            </a:r>
          </a:p>
          <a:p>
            <a:pPr>
              <a:spcAft>
                <a:spcPts val="1000"/>
              </a:spcAft>
              <a:defRPr sz="1500" b="0">
                <a:solidFill>
                  <a:srgbClr val="1D3557"/>
                </a:solidFill>
              </a:defRPr>
            </a:pPr>
            <a:r>
              <a:t>• Banglish (Latin) 367 — Bangla written in English letters.</a:t>
            </a:r>
          </a:p>
          <a:p>
            <a:pPr>
              <a:spcAft>
                <a:spcPts val="1000"/>
              </a:spcAft>
              <a:defRPr sz="1500" b="0">
                <a:solidFill>
                  <a:srgbClr val="1D3557"/>
                </a:solidFill>
              </a:defRPr>
            </a:pPr>
            <a:r>
              <a:t>• Code-mixed 33 — Bangla + English in one comment.</a:t>
            </a:r>
          </a:p>
          <a:p>
            <a:pPr>
              <a:spcAft>
                <a:spcPts val="1000"/>
              </a:spcAft>
              <a:defRPr sz="1500" b="0">
                <a:solidFill>
                  <a:srgbClr val="1D3557"/>
                </a:solidFill>
              </a:defRPr>
            </a:pPr>
            <a:r>
              <a:t>• Arabic 2 — short religious phrases.</a:t>
            </a:r>
          </a:p>
          <a:p>
            <a:pPr>
              <a:spcAft>
                <a:spcPts val="1000"/>
              </a:spcAft>
              <a:defRPr sz="1500" b="0">
                <a:solidFill>
                  <a:srgbClr val="1D3557"/>
                </a:solidFill>
              </a:defRPr>
            </a:pPr>
            <a:r>
              <a:t>• ≈16% is Latin-script — this matters a lot for model choice (shown later).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Two-Level Label Scheme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D3557"/>
                </a:solidFill>
              </a:defRPr>
            </a:pPr>
            <a:r>
              <a:t>• Level A — Polarity (3): Negative · Neutral · Positive  (overall emotional valence).</a:t>
            </a:r>
          </a:p>
          <a:p>
            <a:pPr>
              <a:spcAft>
                <a:spcPts val="600"/>
              </a:spcAft>
              <a:defRPr sz="1600" b="1">
                <a:solidFill>
                  <a:srgbClr val="1D3557"/>
                </a:solidFill>
              </a:defRPr>
            </a:pPr>
            <a:r>
              <a:t>• Level B — Fine-grained emotion (5):</a:t>
            </a:r>
          </a:p>
          <a:p>
            <a:pPr>
              <a:spcAft>
                <a:spcPts val="600"/>
              </a:spcAft>
              <a:defRPr sz="1400" b="0">
                <a:solidFill>
                  <a:srgbClr val="494F57"/>
                </a:solidFill>
              </a:defRPr>
            </a:pPr>
            <a:r>
              <a:t>    – Anger/Condemnation — outrage, demand for justice/punishment.</a:t>
            </a:r>
          </a:p>
          <a:p>
            <a:pPr>
              <a:spcAft>
                <a:spcPts val="600"/>
              </a:spcAft>
              <a:defRPr sz="1400" b="0">
                <a:solidFill>
                  <a:srgbClr val="494F57"/>
                </a:solidFill>
              </a:defRPr>
            </a:pPr>
            <a:r>
              <a:t>    – Victim-blaming — blaming the elder/family (the novel, high-value class).</a:t>
            </a:r>
          </a:p>
          <a:p>
            <a:pPr>
              <a:spcAft>
                <a:spcPts val="600"/>
              </a:spcAft>
              <a:defRPr sz="1400" b="0">
                <a:solidFill>
                  <a:srgbClr val="494F57"/>
                </a:solidFill>
              </a:defRPr>
            </a:pPr>
            <a:r>
              <a:t>    – Grief/Sympathy — sorrow, empathy for the victim.</a:t>
            </a:r>
          </a:p>
          <a:p>
            <a:pPr>
              <a:spcAft>
                <a:spcPts val="600"/>
              </a:spcAft>
              <a:defRPr sz="1400" b="0">
                <a:solidFill>
                  <a:srgbClr val="494F57"/>
                </a:solidFill>
              </a:defRPr>
            </a:pPr>
            <a:r>
              <a:t>    – Prayer/Religious — dua, blessings, religious framing.</a:t>
            </a:r>
          </a:p>
          <a:p>
            <a:pPr>
              <a:spcAft>
                <a:spcPts val="600"/>
              </a:spcAft>
              <a:defRPr sz="1400" b="0">
                <a:solidFill>
                  <a:srgbClr val="494F57"/>
                </a:solidFill>
              </a:defRPr>
            </a:pPr>
            <a:r>
              <a:t>    – Neutral-Other — factual, procedural, off-topic.</a:t>
            </a:r>
          </a:p>
          <a:p>
            <a:pPr>
              <a:spcAft>
                <a:spcPts val="600"/>
              </a:spcAft>
              <a:defRPr sz="1600" b="0">
                <a:solidFill>
                  <a:srgbClr val="1D3557"/>
                </a:solidFill>
              </a:defRPr>
            </a:pPr>
            <a:r>
              <a:t>• Every comment gets one polarity + one emotion. Test set is sha256-locked.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How Labels Were Assigned</a:t>
            </a:r>
          </a:p>
          <a:p>
            <a:pPr>
              <a:defRPr sz="1350">
                <a:solidFill>
                  <a:srgbClr val="494F57"/>
                </a:solidFill>
              </a:defRPr>
            </a:pPr>
            <a:r>
              <a:t>A written codebook — not ad-hoc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D3557"/>
                </a:solidFill>
              </a:defRPr>
            </a:pPr>
            <a:r>
              <a:t>• A formal annotation guideline defines each label with rules, examples, and tie-breaks.</a:t>
            </a:r>
          </a:p>
          <a:p>
            <a:pPr>
              <a:spcAft>
                <a:spcPts val="700"/>
              </a:spcAft>
              <a:defRPr sz="1600" b="1">
                <a:solidFill>
                  <a:srgbClr val="1D3557"/>
                </a:solidFill>
              </a:defRPr>
            </a:pPr>
            <a:r>
              <a:t>• Key rules:</a:t>
            </a:r>
          </a:p>
          <a:p>
            <a:pPr>
              <a:spcAft>
                <a:spcPts val="700"/>
              </a:spcAft>
              <a:defRPr sz="1400" b="0">
                <a:solidFill>
                  <a:srgbClr val="494F57"/>
                </a:solidFill>
              </a:defRPr>
            </a:pPr>
            <a:r>
              <a:t>    – Label the COMMENT text only — never the video's abuse_type (avoids topic bias).</a:t>
            </a:r>
          </a:p>
          <a:p>
            <a:pPr>
              <a:spcAft>
                <a:spcPts val="700"/>
              </a:spcAft>
              <a:defRPr sz="1400" b="0">
                <a:solidFill>
                  <a:srgbClr val="494F57"/>
                </a:solidFill>
              </a:defRPr>
            </a:pPr>
            <a:r>
              <a:t>    – Religion is the language, not the label: dua for victim → Positive/Prayer; curse on abuser in God's name → Negative/Anger.</a:t>
            </a:r>
          </a:p>
          <a:p>
            <a:pPr>
              <a:spcAft>
                <a:spcPts val="700"/>
              </a:spcAft>
              <a:defRPr sz="1400" b="0">
                <a:solidFill>
                  <a:srgbClr val="494F57"/>
                </a:solidFill>
              </a:defRPr>
            </a:pPr>
            <a:r>
              <a:t>    – Emoji are evidence: 😢 → grief, 😡 → anger. Sarcasm → intended meaning.</a:t>
            </a:r>
          </a:p>
          <a:p>
            <a:pPr>
              <a:spcAft>
                <a:spcPts val="700"/>
              </a:spcAft>
              <a:defRPr sz="1400" b="0">
                <a:solidFill>
                  <a:srgbClr val="494F57"/>
                </a:solidFill>
              </a:defRPr>
            </a:pPr>
            <a:r>
              <a:t>    – Multiple emotions → pick the dominant one.</a:t>
            </a:r>
          </a:p>
          <a:p>
            <a:pPr>
              <a:spcAft>
                <a:spcPts val="700"/>
              </a:spcAft>
              <a:defRPr sz="1600" b="0">
                <a:solidFill>
                  <a:srgbClr val="1D3557"/>
                </a:solidFill>
              </a:defRPr>
            </a:pPr>
            <a:r>
              <a:t>• Examples: “আল্লাহ জান্নাত দিক” → Positive · “কুলাঙ্গারের ফাঁসি হোক” → Negative/Anger · “ভিডিওটা কোথাকার?” → Neutral.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Result — Label Distributions</a:t>
            </a:r>
          </a:p>
        </p:txBody>
      </p:sp>
      <p:pic>
        <p:nvPicPr>
          <p:cNvPr id="4" name="Picture 3" descr="01_polarity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1895"/>
            <a:ext cx="5669280" cy="3759970"/>
          </a:xfrm>
          <a:prstGeom prst="rect">
            <a:avLst/>
          </a:prstGeom>
        </p:spPr>
      </p:pic>
      <p:pic>
        <p:nvPicPr>
          <p:cNvPr id="5" name="Picture 4" descr="02_emotion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28728"/>
            <a:ext cx="5760720" cy="296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i="1">
                <a:solidFill>
                  <a:srgbClr val="494F57"/>
                </a:solidFill>
              </a:defRPr>
            </a:pPr>
            <a:r>
              <a:t>70% of reactions are Negative. Anger (~35%) and victim-blaming (~13.5%) dominate the emotion mix.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Key Finding 1 — Emotion Depends on Abuse Type</a:t>
            </a:r>
          </a:p>
        </p:txBody>
      </p:sp>
      <p:pic>
        <p:nvPicPr>
          <p:cNvPr id="4" name="Picture 3" descr="04_abusetype_x_e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826" y="1463040"/>
            <a:ext cx="6781867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i="1">
                <a:solidFill>
                  <a:srgbClr val="494F57"/>
                </a:solidFill>
              </a:defRPr>
            </a:pPr>
            <a:r>
              <a:t>Anger peaks for Verbal/Physical abuse; prayer peaks for Murder; victim-blaming concentrates in Neglect/Abandonment.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Key Finding 2 — Victim-Blaming is Topic-Specific</a:t>
            </a:r>
          </a:p>
        </p:txBody>
      </p:sp>
      <p:pic>
        <p:nvPicPr>
          <p:cNvPr id="4" name="Picture 3" descr="10_victimblame_by_ab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40656"/>
            <a:ext cx="6583680" cy="37424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737360"/>
            <a:ext cx="4572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25.7% of Neglect comments blame the victim/family…</a:t>
            </a:r>
          </a:p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…but 2.2% for Physical and 0% for Murder.</a:t>
            </a:r>
          </a:p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When elders are abandoned (often educated/wealthy parents), a vocal minority blames them (“bad upbringing”, “haram money”).</a:t>
            </a:r>
          </a:p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When harm is undeniable violence, the public unites in condemnation.</a:t>
            </a:r>
          </a:p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Victim-blaming comments are also the LONGEST — they argue and justify.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Key Findings 3 &amp; 4 — Platform and Engagement</a:t>
            </a:r>
          </a:p>
        </p:txBody>
      </p:sp>
      <p:pic>
        <p:nvPicPr>
          <p:cNvPr id="4" name="Picture 3" descr="06_platform_x_e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05396"/>
            <a:ext cx="5943600" cy="3521528"/>
          </a:xfrm>
          <a:prstGeom prst="rect">
            <a:avLst/>
          </a:prstGeom>
        </p:spPr>
      </p:pic>
      <p:pic>
        <p:nvPicPr>
          <p:cNvPr id="5" name="Picture 4" descr="09_likes_by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87990"/>
            <a:ext cx="5577840" cy="33563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i="1">
                <a:solidFill>
                  <a:srgbClr val="494F57"/>
                </a:solidFill>
              </a:defRPr>
            </a:pPr>
            <a:r>
              <a:t>Victim-blaming is 18.6% on YouTube vs 0.9% on Facebook. Grief/Sympathy earns ~10× more likes than anger.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Key Finding 5 — Clean Lexical Separation</a:t>
            </a:r>
          </a:p>
        </p:txBody>
      </p:sp>
      <p:pic>
        <p:nvPicPr>
          <p:cNvPr id="4" name="Picture 3" descr="12_top_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35" y="1508760"/>
            <a:ext cx="10966649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i="1">
                <a:solidFill>
                  <a:srgbClr val="494F57"/>
                </a:solidFill>
              </a:defRPr>
            </a:pPr>
            <a:r>
              <a:t>Distinctive words per emotion are sharply different (justice/wretch vs education/old-age-home vs pain/sorrow) — supports the 5-class scheme.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Phase 2 — Dataset Split</a:t>
            </a:r>
          </a:p>
          <a:p>
            <a:pPr>
              <a:defRPr sz="1350">
                <a:solidFill>
                  <a:srgbClr val="494F57"/>
                </a:solidFill>
              </a:defRPr>
            </a:pPr>
            <a:r>
              <a:t>Zero-leakage, imbalance-aware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651760" cy="1371600"/>
          </a:xfrm>
          <a:prstGeom prst="roundRect">
            <a:avLst/>
          </a:prstGeom>
          <a:solidFill>
            <a:srgbClr val="F1F3F6"/>
          </a:solidFill>
          <a:ln w="1905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D3557"/>
                </a:solidFill>
              </a:defRPr>
            </a:pPr>
            <a:r>
              <a:t>1,609</a:t>
            </a:r>
          </a:p>
          <a:p>
            <a:pPr algn="ctr">
              <a:defRPr sz="1200">
                <a:solidFill>
                  <a:srgbClr val="494F57"/>
                </a:solidFill>
              </a:defRPr>
            </a:pPr>
            <a:r>
              <a:t>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463040"/>
            <a:ext cx="2651760" cy="1371600"/>
          </a:xfrm>
          <a:prstGeom prst="roundRect">
            <a:avLst/>
          </a:prstGeom>
          <a:solidFill>
            <a:srgbClr val="F1F3F6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2A9D8F"/>
                </a:solidFill>
              </a:defRPr>
            </a:pPr>
            <a:r>
              <a:t>345</a:t>
            </a:r>
          </a:p>
          <a:p>
            <a:pPr algn="ctr">
              <a:defRPr sz="1200">
                <a:solidFill>
                  <a:srgbClr val="494F57"/>
                </a:solidFill>
              </a:defRPr>
            </a:pPr>
            <a:r>
              <a:t>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2651760" cy="1371600"/>
          </a:xfrm>
          <a:prstGeom prst="roundRect">
            <a:avLst/>
          </a:prstGeom>
          <a:solidFill>
            <a:srgbClr val="F1F3F6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E63946"/>
                </a:solidFill>
              </a:defRPr>
            </a:pPr>
            <a:r>
              <a:t>345</a:t>
            </a:r>
          </a:p>
          <a:p>
            <a:pPr algn="ctr">
              <a:defRPr sz="1200">
                <a:solidFill>
                  <a:srgbClr val="494F57"/>
                </a:solidFill>
              </a:defRPr>
            </a:pPr>
            <a:r>
              <a:t>test (locked)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972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D3557"/>
                </a:solidFill>
              </a:defRPr>
            </a:pPr>
            <a:r>
              <a:t>• Text-dedup BEFORE splitting → no leakage across sets.</a:t>
            </a:r>
          </a:p>
          <a:p>
            <a:pPr>
              <a:spcAft>
                <a:spcPts val="900"/>
              </a:spcAft>
              <a:defRPr sz="1600" b="0">
                <a:solidFill>
                  <a:srgbClr val="1D3557"/>
                </a:solidFill>
              </a:defRPr>
            </a:pPr>
            <a:r>
              <a:t>• Stratified 70/15/15 by polarity (seed 42) → same class ratios in every split.</a:t>
            </a:r>
          </a:p>
          <a:p>
            <a:pPr>
              <a:spcAft>
                <a:spcPts val="900"/>
              </a:spcAft>
              <a:defRPr sz="1600" b="0">
                <a:solidFill>
                  <a:srgbClr val="1D3557"/>
                </a:solidFill>
              </a:defRPr>
            </a:pPr>
            <a:r>
              <a:t>• Test set sha256-locked and touched exactly once (final evaluation only).</a:t>
            </a:r>
          </a:p>
          <a:p>
            <a:pPr>
              <a:spcAft>
                <a:spcPts val="900"/>
              </a:spcAft>
              <a:defRPr sz="1600" b="0">
                <a:solidFill>
                  <a:srgbClr val="1D3557"/>
                </a:solidFill>
              </a:defRPr>
            </a:pPr>
            <a:r>
              <a:t>• Primary metric = macro-F1 — averages classes equally, so the rare Positive/Neutral classes count as much as the dominant Negative.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Phase 3 — Modelling Approach</a:t>
            </a:r>
          </a:p>
          <a:p>
            <a:pPr>
              <a:defRPr sz="1350">
                <a:solidFill>
                  <a:srgbClr val="494F57"/>
                </a:solidFill>
              </a:defRPr>
            </a:pPr>
            <a:r>
              <a:t>Why each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D3557"/>
                </a:solidFill>
              </a:defRPr>
            </a:pPr>
            <a:r>
              <a:t>• Baseline — TF-IDF + Linear SVM:</a:t>
            </a:r>
          </a:p>
          <a:p>
            <a:pPr>
              <a:spcAft>
                <a:spcPts val="600"/>
              </a:spcAft>
              <a:defRPr sz="1400" b="0">
                <a:solidFill>
                  <a:srgbClr val="494F57"/>
                </a:solidFill>
              </a:defRPr>
            </a:pPr>
            <a:r>
              <a:t>    – Word n-grams (1–2) + character n-grams (3–5). Char n-grams absorb Bangla spelling variation AND romanized Banglish.</a:t>
            </a:r>
          </a:p>
          <a:p>
            <a:pPr>
              <a:spcAft>
                <a:spcPts val="600"/>
              </a:spcAft>
              <a:defRPr sz="1400" b="0">
                <a:solidFill>
                  <a:srgbClr val="494F57"/>
                </a:solidFill>
              </a:defRPr>
            </a:pPr>
            <a:r>
              <a:t>    – Class-weighted to handle the Negative-heavy imbalance.</a:t>
            </a:r>
          </a:p>
          <a:p>
            <a:pPr>
              <a:spcAft>
                <a:spcPts val="600"/>
              </a:spcAft>
              <a:defRPr sz="1600" b="1">
                <a:solidFill>
                  <a:srgbClr val="1D3557"/>
                </a:solidFill>
              </a:defRPr>
            </a:pPr>
            <a:r>
              <a:t>• Transformer — BanglaBERT (sagorsarker/bangla-bert-base):</a:t>
            </a:r>
          </a:p>
          <a:p>
            <a:pPr>
              <a:spcAft>
                <a:spcPts val="600"/>
              </a:spcAft>
              <a:defRPr sz="1400" b="0">
                <a:solidFill>
                  <a:srgbClr val="494F57"/>
                </a:solidFill>
              </a:defRPr>
            </a:pPr>
            <a:r>
              <a:t>    – Fine-tuned with class-weighted loss; best validation checkpoint kept.</a:t>
            </a:r>
          </a:p>
          <a:p>
            <a:pPr>
              <a:spcAft>
                <a:spcPts val="600"/>
              </a:spcAft>
              <a:defRPr sz="1400" b="0">
                <a:solidFill>
                  <a:srgbClr val="494F57"/>
                </a:solidFill>
              </a:defRPr>
            </a:pPr>
            <a:r>
              <a:t>    – Tuned: 5 epochs, warmup, weight-decay.</a:t>
            </a:r>
          </a:p>
          <a:p>
            <a:pPr>
              <a:spcAft>
                <a:spcPts val="600"/>
              </a:spcAft>
              <a:defRPr sz="1600" b="0">
                <a:solidFill>
                  <a:srgbClr val="1D3557"/>
                </a:solidFill>
              </a:defRPr>
            </a:pPr>
            <a:r>
              <a:t>• Fit on TRAIN only; selected on VALIDATION; TEST stays locked → honest generalisation.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Phase 3 — Validation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5852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0"/>
                <a:gridCol w="1300480"/>
                <a:gridCol w="1300480"/>
              </a:tblGrid>
              <a:tr h="493776"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0.653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3557"/>
                          </a:solidFill>
                        </a:defRPr>
                      </a:pPr>
                      <a:r>
                        <a:t>Linear SVM  ★ best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3557"/>
                          </a:solidFill>
                        </a:defRPr>
                      </a:pPr>
                      <a:r>
                        <a:t>0.661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3557"/>
                          </a:solidFill>
                        </a:defRPr>
                      </a:pPr>
                      <a:r>
                        <a:t>0.777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Complement NB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0.487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0.704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BanglaBERT (tuned)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14_baseline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76674"/>
            <a:ext cx="5120640" cy="41618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97680"/>
            <a:ext cx="5852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D3557"/>
                </a:solidFill>
              </a:defRPr>
            </a:pPr>
            <a:r>
              <a:t>• Negative detected very well (F1 0.86).</a:t>
            </a:r>
          </a:p>
          <a:p>
            <a:pPr>
              <a:spcAft>
                <a:spcPts val="600"/>
              </a:spcAft>
              <a:defRPr sz="1400" b="0">
                <a:solidFill>
                  <a:srgbClr val="1D3557"/>
                </a:solidFill>
              </a:defRPr>
            </a:pPr>
            <a:r>
              <a:t>• Neutral is the hard class (fuzzy middle).</a:t>
            </a:r>
          </a:p>
          <a:p>
            <a:pPr>
              <a:spcAft>
                <a:spcPts val="600"/>
              </a:spcAft>
              <a:defRPr sz="1400" b="0">
                <a:solidFill>
                  <a:srgbClr val="1D3557"/>
                </a:solidFill>
              </a:defRPr>
            </a:pPr>
            <a:r>
              <a:t>• SVM leads on validation.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Phase 4 — Final Test-Set Evaluation</a:t>
            </a:r>
          </a:p>
          <a:p>
            <a:pPr>
              <a:defRPr sz="1350">
                <a:solidFill>
                  <a:srgbClr val="494F57"/>
                </a:solidFill>
              </a:defRPr>
            </a:pPr>
            <a:r>
              <a:t>Locked test set, touched once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658367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2932"/>
                <a:gridCol w="1437815"/>
                <a:gridCol w="1135117"/>
                <a:gridCol w="1437815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test macro-F1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test acc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weighted-F1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3557"/>
                          </a:solidFill>
                        </a:defRPr>
                      </a:pPr>
                      <a:r>
                        <a:t>Linear SVM  ★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3557"/>
                          </a:solidFill>
                        </a:defRPr>
                      </a:pPr>
                      <a:r>
                        <a:t>0.683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3557"/>
                          </a:solidFill>
                        </a:defRPr>
                      </a:pPr>
                      <a:r>
                        <a:t>0.788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D3557"/>
                          </a:solidFill>
                        </a:defRPr>
                      </a:pPr>
                      <a:r>
                        <a:t>0.780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BanglaBERT (tuned)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16_test_confusion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82510"/>
            <a:ext cx="4480560" cy="3641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383280"/>
            <a:ext cx="65836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Both generalise well — test ≥ validation (no overfitting).</a:t>
            </a:r>
          </a:p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McNemar p = 0.026 → the gap is statistically significant; the Linear SVM outperforms BanglaBERT.</a:t>
            </a:r>
          </a:p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Linear SVM is the practical choice: simpler, faster, no GPU.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Per-Class Precision / Recall / F1</a:t>
            </a:r>
          </a:p>
          <a:p>
            <a:pPr>
              <a:defRPr sz="1350">
                <a:solidFill>
                  <a:srgbClr val="494F57"/>
                </a:solidFill>
              </a:defRPr>
            </a:pPr>
            <a:r>
              <a:t>Held-out test — where each model wins</a:t>
            </a:r>
          </a:p>
        </p:txBody>
      </p:sp>
      <p:pic>
        <p:nvPicPr>
          <p:cNvPr id="4" name="Picture 3" descr="23_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1097280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i="1">
                <a:solidFill>
                  <a:srgbClr val="494F57"/>
                </a:solidFill>
              </a:defRPr>
            </a:pPr>
            <a:r>
              <a:t>Both models are strong on Negative; Neutral is the hard middle. The SVM is more balanced on the rare Positive/Neutral classes, which lifts its macro-F1.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Phase 5 — Why the Baseline Wins: Language Robustness</a:t>
            </a:r>
          </a:p>
        </p:txBody>
      </p:sp>
      <p:pic>
        <p:nvPicPr>
          <p:cNvPr id="4" name="Picture 3" descr="19_lang_mod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67" y="1508760"/>
            <a:ext cx="6691745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737360"/>
            <a:ext cx="4572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1D3557"/>
                </a:solidFill>
              </a:defRPr>
            </a:pPr>
            <a:r>
              <a:t>• On held-out test, by language:</a:t>
            </a:r>
          </a:p>
          <a:p>
            <a:pPr>
              <a:spcAft>
                <a:spcPts val="900"/>
              </a:spcAft>
              <a:defRPr sz="1200" b="0">
                <a:solidFill>
                  <a:srgbClr val="494F57"/>
                </a:solidFill>
              </a:defRPr>
            </a:pPr>
            <a:r>
              <a:t>    – Bangla — SVM 0.81 · BanglaBERT 0.77</a:t>
            </a:r>
          </a:p>
          <a:p>
            <a:pPr>
              <a:spcAft>
                <a:spcPts val="900"/>
              </a:spcAft>
              <a:defRPr sz="1200" b="0">
                <a:solidFill>
                  <a:srgbClr val="494F57"/>
                </a:solidFill>
              </a:defRPr>
            </a:pPr>
            <a:r>
              <a:t>    – Banglish (Latin) — SVM 0.67 · BanglaBERT 0.46  ← collapses</a:t>
            </a:r>
          </a:p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BanglaBERT was pre-trained on Bangla SCRIPT — it can't read romanized Banglish.</a:t>
            </a:r>
          </a:p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The char-ngram SVM stays robust. Since ~16% of the corpus is Latin-script, this largely explains why the baseline wins overall.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Phase 5 — Embedding Structure</a:t>
            </a:r>
          </a:p>
        </p:txBody>
      </p:sp>
      <p:pic>
        <p:nvPicPr>
          <p:cNvPr id="4" name="Picture 3" descr="20_embedding_tsne_e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508760"/>
            <a:ext cx="5157216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737360"/>
            <a:ext cx="47548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D3557"/>
                </a:solidFill>
              </a:defRPr>
            </a:pPr>
            <a:r>
              <a:t>• BanglaBERT sentence embeddings → KMeans vs human labels (Adjusted Rand Index):</a:t>
            </a:r>
          </a:p>
          <a:p>
            <a:pPr>
              <a:spcAft>
                <a:spcPts val="800"/>
              </a:spcAft>
              <a:defRPr sz="1200" b="0">
                <a:solidFill>
                  <a:srgbClr val="494F57"/>
                </a:solidFill>
              </a:defRPr>
            </a:pPr>
            <a:r>
              <a:t>    – cluster ↔ emotion: ARI = 0.051</a:t>
            </a:r>
          </a:p>
          <a:p>
            <a:pPr>
              <a:spcAft>
                <a:spcPts val="800"/>
              </a:spcAft>
              <a:defRPr sz="1200" b="0">
                <a:solidFill>
                  <a:srgbClr val="494F57"/>
                </a:solidFill>
              </a:defRPr>
            </a:pPr>
            <a:r>
              <a:t>    – cluster ↔ polarity: ARI = 0.059</a:t>
            </a:r>
          </a:p>
          <a:p>
            <a:pPr>
              <a:spcAft>
                <a:spcPts val="800"/>
              </a:spcAft>
              <a:defRPr sz="1400" b="0">
                <a:solidFill>
                  <a:srgbClr val="1D3557"/>
                </a:solidFill>
              </a:defRPr>
            </a:pPr>
            <a:r>
              <a:t>• Low ARI ⇒ emotion classes OVERLAP in embedding space (semantic, not lexically separable) ⇒ supervised labels are genuinely needed.</a:t>
            </a:r>
          </a:p>
          <a:p>
            <a:pPr>
              <a:spcAft>
                <a:spcPts val="800"/>
              </a:spcAft>
              <a:defRPr sz="1400" b="0">
                <a:solidFill>
                  <a:srgbClr val="1D3557"/>
                </a:solidFill>
              </a:defRPr>
            </a:pPr>
            <a:r>
              <a:t>• The detached blob (left) is Latin-script text — grouped by script, not emotion.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Phase 5 — Religious Framing</a:t>
            </a:r>
          </a:p>
        </p:txBody>
      </p:sp>
      <p:pic>
        <p:nvPicPr>
          <p:cNvPr id="4" name="Picture 3" descr="21_religious_fr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79904"/>
            <a:ext cx="6949440" cy="2663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737360"/>
            <a:ext cx="4389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22% of all comments use religious language.</a:t>
            </a:r>
          </a:p>
          <a:p>
            <a:pPr>
              <a:spcAft>
                <a:spcPts val="900"/>
              </a:spcAft>
              <a:defRPr sz="1400" b="1">
                <a:solidFill>
                  <a:srgbClr val="1D3557"/>
                </a:solidFill>
              </a:defRPr>
            </a:pPr>
            <a:r>
              <a:t>• Within religious comments:</a:t>
            </a:r>
          </a:p>
          <a:p>
            <a:pPr>
              <a:spcAft>
                <a:spcPts val="900"/>
              </a:spcAft>
              <a:defRPr sz="1200" b="0">
                <a:solidFill>
                  <a:srgbClr val="494F57"/>
                </a:solidFill>
              </a:defRPr>
            </a:pPr>
            <a:r>
              <a:t>    – Prayer/Religious 34%  (blessing)</a:t>
            </a:r>
          </a:p>
          <a:p>
            <a:pPr>
              <a:spcAft>
                <a:spcPts val="900"/>
              </a:spcAft>
              <a:defRPr sz="1200" b="0">
                <a:solidFill>
                  <a:srgbClr val="494F57"/>
                </a:solidFill>
              </a:defRPr>
            </a:pPr>
            <a:r>
              <a:t>    – Victim-blaming 24%  ·  Anger 23%  (blame)</a:t>
            </a:r>
          </a:p>
          <a:p>
            <a:pPr>
              <a:spcAft>
                <a:spcPts val="900"/>
              </a:spcAft>
              <a:defRPr sz="1400" b="0">
                <a:solidFill>
                  <a:srgbClr val="1D3557"/>
                </a:solidFill>
              </a:defRPr>
            </a:pPr>
            <a:r>
              <a:t>• Religion is the vehicle of BOTH blessing and condemnation — it skews comments slightly more Positive (dua) than non-religious ones.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Phase 5 — Explainability &amp; 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D3557"/>
                </a:solidFill>
              </a:defRPr>
            </a:pPr>
            <a:r>
              <a:t>• Transparent — top Linear-SVM word features per class (no black box):</a:t>
            </a:r>
          </a:p>
          <a:p>
            <a:pPr>
              <a:spcAft>
                <a:spcPts val="700"/>
              </a:spcAft>
              <a:defRPr sz="1400" b="0">
                <a:solidFill>
                  <a:srgbClr val="494F57"/>
                </a:solidFill>
              </a:defRPr>
            </a:pPr>
            <a:r>
              <a:t>    – Negative: ai · বিচার · এমন · শিক্ষিত · অবস্থা · o · মহিলা</a:t>
            </a:r>
          </a:p>
          <a:p>
            <a:pPr>
              <a:spcAft>
                <a:spcPts val="700"/>
              </a:spcAft>
              <a:defRPr sz="1400" b="0">
                <a:solidFill>
                  <a:srgbClr val="494F57"/>
                </a:solidFill>
              </a:defRPr>
            </a:pPr>
            <a:r>
              <a:t>    – Neutral: করা উচিত · মা বাবা · ভাবে · দাও · করতে হবে · baber · হতে পারে</a:t>
            </a:r>
          </a:p>
          <a:p>
            <a:pPr>
              <a:spcAft>
                <a:spcPts val="700"/>
              </a:spcAft>
              <a:defRPr sz="1400" b="0">
                <a:solidFill>
                  <a:srgbClr val="494F57"/>
                </a:solidFill>
              </a:defRPr>
            </a:pPr>
            <a:r>
              <a:t>    – Positive: ভিডিও · আল্লাহ সবাইকে · আমার বাবা · good · ধন্যবাদ · সহায় · ভালো   (incl. English ‘thank’, Arabic الله)</a:t>
            </a:r>
          </a:p>
          <a:p>
            <a:pPr>
              <a:spcAft>
                <a:spcPts val="700"/>
              </a:spcAft>
              <a:defRPr sz="1600" b="1">
                <a:solidFill>
                  <a:srgbClr val="1D3557"/>
                </a:solidFill>
              </a:defRPr>
            </a:pPr>
            <a:r>
              <a:t>• Errors (test):</a:t>
            </a:r>
          </a:p>
          <a:p>
            <a:pPr>
              <a:spcAft>
                <a:spcPts val="700"/>
              </a:spcAft>
              <a:defRPr sz="1400" b="0">
                <a:solidFill>
                  <a:srgbClr val="494F57"/>
                </a:solidFill>
              </a:defRPr>
            </a:pPr>
            <a:r>
              <a:t>    – Hardest boundary = Neutral ↔ Negative (the fuzzy middle) for both models.</a:t>
            </a:r>
          </a:p>
          <a:p>
            <a:pPr>
              <a:spcAft>
                <a:spcPts val="700"/>
              </a:spcAft>
              <a:defRPr sz="1400" b="0">
                <a:solidFill>
                  <a:srgbClr val="494F57"/>
                </a:solidFill>
              </a:defRPr>
            </a:pPr>
            <a:r>
              <a:t>    – BanglaBERT error 0.51 on Latin/code-mixed and 0.43 on emoji comments vs ~0.23 otherwise — the SVM is stable across both.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Error Analysis — Hardest Cases (both models wrong)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642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232"/>
                <a:gridCol w="1290827"/>
                <a:gridCol w="1290827"/>
                <a:gridCol w="7007352"/>
              </a:tblGrid>
              <a:tr h="44413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BERT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comment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Ai Milton shomdder keo koto bitorko korselo.jara Val…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উনাকে বৃদ্ধা আশ্রমে তো দিতে পারে, সাংবাদিক  ভাইরা চা…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Positive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নাদিরা বেগম কি বেঁচে আছেন?  She seems very lonely an…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৩১ বছর আগে তো উনি বুড়া ছিলেন না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আপনি কলেজে শিক্ষক আপনার সন্তানদের মানুষ করতে যে পরিম…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94F57"/>
                          </a:solidFill>
                        </a:defRPr>
                      </a:pPr>
                      <a:r>
                        <a:t>এমন দুর্দশা থেকে মুক্ত করতেই কুরআনের আগমন। আপনারা আধ…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93776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D3557"/>
                </a:solidFill>
              </a:defRPr>
            </a:pPr>
            <a:r>
              <a:t>• Nearly all hard cases sit on the Neutral ↔ Negative boundary.</a:t>
            </a:r>
          </a:p>
          <a:p>
            <a:pPr>
              <a:spcAft>
                <a:spcPts val="700"/>
              </a:spcAft>
              <a:defRPr sz="1400" b="0">
                <a:solidFill>
                  <a:srgbClr val="1D3557"/>
                </a:solidFill>
              </a:defRPr>
            </a:pPr>
            <a:r>
              <a:t>• Common types: rhetorical questions, mixed sentiment, sarcasm, and code-switched text.</a:t>
            </a:r>
          </a:p>
          <a:p>
            <a:pPr>
              <a:spcAft>
                <a:spcPts val="700"/>
              </a:spcAft>
              <a:defRPr sz="1400" b="0">
                <a:solidFill>
                  <a:srgbClr val="1D3557"/>
                </a:solidFill>
              </a:defRPr>
            </a:pPr>
            <a:r>
              <a:t>• These are genuinely ambiguous — even human annotators would disagree, which sets a realistic ceiling on accuracy.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Statistical Validation</a:t>
            </a:r>
          </a:p>
          <a:p>
            <a:pPr>
              <a:defRPr sz="1350">
                <a:solidFill>
                  <a:srgbClr val="494F57"/>
                </a:solidFill>
              </a:defRPr>
            </a:pPr>
            <a:r>
              <a:t>Findings are not chance — Chi-square / Fisher's exact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7279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1781"/>
                <a:gridCol w="2070339"/>
                <a:gridCol w="2070339"/>
                <a:gridCol w="2070339"/>
              </a:tblGrid>
              <a:tr h="441960"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Association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Cramér's V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significant?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emotion × abuse-type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2.8e-47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polarity × abuse-type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4.9e-14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emotion × platform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1.7e-31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0.256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polarity ×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1.2e-01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94F5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polarity × language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1.8e-05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94F57"/>
                          </a:solidFill>
                        </a:defRPr>
                      </a:pPr>
                      <a:r>
                        <a:t>0.077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A9D8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480560"/>
            <a:ext cx="10972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D3557"/>
                </a:solidFill>
              </a:defRPr>
            </a:pPr>
            <a:r>
              <a:t>• Fisher's exact — victim-blaming × Neglect/Abandonment: odds ratio 4.87, p = 3.9e-25 → victim-blaming is ~5× more likely in neglect topics.</a:t>
            </a:r>
          </a:p>
          <a:p>
            <a:pPr>
              <a:spcAft>
                <a:spcPts val="800"/>
              </a:spcAft>
              <a:defRPr sz="1400" b="0">
                <a:solidFill>
                  <a:srgbClr val="1D3557"/>
                </a:solidFill>
              </a:defRPr>
            </a:pPr>
            <a:r>
              <a:t>• Emotion↔topic, emotion↔platform and victim-blaming↔topic are all statistically significant.</a:t>
            </a:r>
          </a:p>
          <a:p>
            <a:pPr>
              <a:spcAft>
                <a:spcPts val="800"/>
              </a:spcAft>
              <a:defRPr sz="1400" b="0">
                <a:solidFill>
                  <a:srgbClr val="1D3557"/>
                </a:solidFill>
              </a:defRPr>
            </a:pPr>
            <a:r>
              <a:t>• Note (fair nuance): overall polarity↔platform is NOT significant — the platform effect is on fine-grained emotion, not coarse polarity.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Language-Wise Confusion — Seeing BanglaBERT Fail</a:t>
            </a:r>
          </a:p>
        </p:txBody>
      </p:sp>
      <p:pic>
        <p:nvPicPr>
          <p:cNvPr id="4" name="Picture 3" descr="22_language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217" y="1463040"/>
            <a:ext cx="5397086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i="1">
                <a:solidFill>
                  <a:srgbClr val="494F57"/>
                </a:solidFill>
              </a:defRPr>
            </a:pPr>
            <a:r>
              <a:t>SVM keeps a balanced diagonal on both scripts; BanglaBERT collapses on Banglish (never predicts Positive, scatters to Neutral) — the language finding, made visual.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9C46A"/>
                </a:solidFill>
              </a:defRPr>
            </a:pPr>
            <a:r>
              <a:t>Key Findings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</a:defRPr>
            </a:pPr>
            <a:r>
              <a:t>✔  New annotated Bangla/Banglish elder-abuse dataset with a novel victim-blaming class.</a:t>
            </a:r>
          </a:p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</a:defRPr>
            </a:pPr>
            <a:r>
              <a:t>✔  70% of reactions Negative; victim-blaming is topic-specific (high in Neglect, 0% in Murder).</a:t>
            </a:r>
          </a:p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</a:defRPr>
            </a:pPr>
            <a:r>
              <a:t>✔  Platform effect: victim-blaming 18.6% on YouTube vs 0.9% on Facebook.</a:t>
            </a:r>
          </a:p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</a:defRPr>
            </a:pPr>
            <a:r>
              <a:t>✔  Classical SVM beats fine-tuned BanglaBERT on test (0.68 vs 0.61, McNemar p=0.026).</a:t>
            </a:r>
          </a:p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</a:defRPr>
            </a:pPr>
            <a:r>
              <a:t>✔  Explained WHY: BanglaBERT can't read Latin-script Banglish (err 0.51) or emoji (err 0.43); the char-ngram SVM is robust to both.</a:t>
            </a:r>
          </a:p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</a:defRPr>
            </a:pPr>
            <a:r>
              <a:t>✔  Religion frames both blessing and condemnation (22% of comments).</a:t>
            </a:r>
          </a:p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</a:defRPr>
            </a:pPr>
            <a:r>
              <a:t>✔  All key associations are statistically significant (Chi-square / Fisher's; victim-blaming odds ratio ≈ 4.9 in neglect topics).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Limitations</a:t>
            </a:r>
          </a:p>
          <a:p>
            <a:pPr>
              <a:defRPr sz="1350">
                <a:solidFill>
                  <a:srgbClr val="494F57"/>
                </a:solidFill>
              </a:defRPr>
            </a:pPr>
            <a:r>
              <a:t>Stated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Labels are model-generated (silver) following a codebook; human inter-annotator (Kappa) validation is planned but not yet complete.</a:t>
            </a:r>
          </a:p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Small &amp; imbalanced (2,301 comments; ~70% Negative) — caps rare-class performance and transformer fine-tuning.</a:t>
            </a:r>
          </a:p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Narrow domain — YouTube/Facebook elder-abuse comments; may not transfer to other topics.</a:t>
            </a:r>
          </a:p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Fine-grained emotion is subjective at the boundary (victim-blaming vs anger vs neutral).</a:t>
            </a:r>
          </a:p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Point-in-time scrape (no temporal analysis); abuse_type is video-level context, not a per-comment label.</a:t>
            </a:r>
          </a:p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BanglaBERT under-reads Latin-script Banglish and emoji — transformer results are a lower bound for code-switched text.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Ethics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Only publicly-posted comments are used — no private data.</a:t>
            </a:r>
          </a:p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Analysis is aggregate: we report patterns, never profile or expose individual commenters; names are not analysed or published.</a:t>
            </a:r>
          </a:p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Elder abuse and its victims are treated with care — no attempt to re-identify anyone.</a:t>
            </a:r>
          </a:p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The victim-blaming class is studied to understand and surface a harmful attitude — not to endorse it.</a:t>
            </a:r>
          </a:p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Offensive comments are used solely for research and shown only as de-identified examples.</a:t>
            </a:r>
          </a:p>
          <a:p>
            <a:pPr>
              <a:spcAft>
                <a:spcPts val="1000"/>
              </a:spcAft>
              <a:defRPr sz="1600" b="0">
                <a:solidFill>
                  <a:srgbClr val="1D3557"/>
                </a:solidFill>
              </a:defRPr>
            </a:pPr>
            <a:r>
              <a:t>• Data collected in line with each platform's public-content terms; no user was contacted.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